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/>
              <a:t>Mixed </a:t>
            </a:r>
            <a:r>
              <a:rPr sz="2000" b="1"/>
              <a:t>bold</a:t>
            </a:r>
            <a:r>
              <a:rPr sz="2000"/>
              <a:t> and </a:t>
            </a:r>
            <a:r>
              <a:rPr sz="2000" i="1"/>
              <a:t>italic</a:t>
            </a:r>
            <a:r>
              <a:rPr sz="2000"/>
              <a:t> and </a:t>
            </a:r>
            <a:r>
              <a:rPr sz="2000" u="sng"/>
              <a:t>underlined</a:t>
            </a:r>
            <a:r>
              <a:rPr sz="2000"/>
              <a:t> text.</a:t>
            </a:r>
          </a:p>
          <a:p>
            <a:pPr>
              <a:spcAft>
                <a:spcPts val="600"/>
              </a:spcAft>
            </a:pPr>
            <a:r>
              <a:rPr sz="2000"/>
              <a:t>Water is H</a:t>
            </a:r>
            <a:r>
              <a:rPr sz="2000" baseline="-25000"/>
              <a:t>2</a:t>
            </a:r>
            <a:r>
              <a:rPr sz="2000"/>
              <a:t>O and E = mc</a:t>
            </a:r>
            <a:r>
              <a:rPr sz="2000" baseline="30000"/>
              <a:t>2</a:t>
            </a:r>
            <a:r>
              <a:rPr sz="2000"/>
              <a:t>. </a:t>
            </a:r>
            <a:r>
              <a:rPr sz="2000" strike="sngStrike"/>
              <a:t>struck</a:t>
            </a:r>
            <a:r>
              <a:rPr sz="2000"/>
              <a:t> </a:t>
            </a:r>
            <a:r>
              <a:rPr sz="2000">
                <a:hlinkClick r:id="rId2"/>
              </a:rPr>
              <a:t>link</a:t>
            </a:r>
          </a:p>
          <a:p>
            <a:pPr>
              <a:spcAft>
                <a:spcPts val="600"/>
              </a:spcAft>
            </a:pPr>
            <a:r>
              <a:rPr sz="2000">
                <a:latin typeface="Arial"/>
              </a:rPr>
              <a:t>Arial text, </a:t>
            </a:r>
            <a:r>
              <a:rPr sz="2000">
                <a:latin typeface="Times New Roman"/>
              </a:rPr>
              <a:t>Times text, </a:t>
            </a:r>
            <a:r>
              <a:rPr sz="2000">
                <a:latin typeface="Courier New"/>
              </a:rPr>
              <a:t>Courier text</a:t>
            </a:r>
          </a:p>
          <a:p>
            <a:pPr algn="ctr">
              <a:spcAft>
                <a:spcPts val="600"/>
              </a:spcAft>
            </a:pPr>
            <a:r>
              <a:rPr sz="2000"/>
              <a:t>Centered paragraph with a long sentence that should wrap across several lines inside the box nicely.</a:t>
            </a:r>
          </a:p>
          <a:p>
            <a:pPr algn="r">
              <a:spcAft>
                <a:spcPts val="600"/>
              </a:spcAft>
            </a:pPr>
            <a:r>
              <a:rPr sz="2000"/>
              <a:t>Right aligned paragraph with enough words to need wrapping onto more than one line in this box.</a:t>
            </a:r>
          </a:p>
          <a:p>
            <a:pPr algn="just">
              <a:spcAft>
                <a:spcPts val="600"/>
              </a:spcAft>
            </a:pPr>
            <a:r>
              <a:rPr sz="2000"/>
              <a:t>Justified paragraph with a good many words in it so that the justified spacing will be visible on the lines which are not last in the paragraph.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r>
              <a:rPr sz="2000"/>
              <a:t>Double line spacing paragraph that wraps over two or three lines to show the spacing.</a:t>
            </a:r>
          </a:p>
          <a:p>
            <a:pPr>
              <a:spcAft>
                <a:spcPts val="600"/>
              </a:spcAft>
            </a:pPr>
            <a:r>
              <a:rPr sz="900"/>
              <a:t>Tiny 9pt text </a:t>
            </a:r>
            <a:r>
              <a:rPr sz="4000"/>
              <a:t>and huge 40pt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657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lvl="0">
              <a:buFont typeface="Arial"/>
              <a:buChar char="•"/>
            </a:pPr>
            <a:r>
              <a:rPr sz="2000"/>
              <a:t>First bullet</a:t>
            </a:r>
          </a:p>
          <a:p>
            <a:pPr marL="685800" indent="-342900" lvl="1">
              <a:buFont typeface="Arial"/>
              <a:buChar char="–"/>
            </a:pPr>
            <a:r>
              <a:rPr sz="2000"/>
              <a:t>Nested dash</a:t>
            </a:r>
          </a:p>
          <a:p>
            <a:pPr marL="342900" indent="-342900" lvl="0">
              <a:buFont typeface="Arial"/>
              <a:buChar char="▪"/>
            </a:pPr>
            <a:r>
              <a:rPr sz="2000"/>
              <a:t>Second bullet</a:t>
            </a:r>
          </a:p>
          <a:p>
            <a:pPr marL="342900" indent="-342900" lvl="0">
              <a:buAutoNum type="arabicPeriod"/>
            </a:pPr>
            <a:r>
              <a:rPr sz="2000"/>
              <a:t>Number one</a:t>
            </a:r>
          </a:p>
          <a:p>
            <a:pPr marL="342900" indent="-342900" lvl="0">
              <a:buAutoNum type="arabicPeriod"/>
            </a:pPr>
            <a:r>
              <a:rPr sz="2000"/>
              <a:t>Number two</a:t>
            </a:r>
          </a:p>
          <a:p>
            <a:pPr marL="685800" indent="-342900" lvl="1">
              <a:buAutoNum type="alphaLcParenR"/>
            </a:pPr>
            <a:r>
              <a:rPr sz="2000"/>
              <a:t>Letter a</a:t>
            </a:r>
          </a:p>
          <a:p>
            <a:pPr marL="685800" indent="-342900" lvl="1">
              <a:buAutoNum type="alphaLcParenR"/>
            </a:pPr>
            <a:r>
              <a:rPr sz="2000"/>
              <a:t>Letter b</a:t>
            </a:r>
          </a:p>
          <a:p>
            <a:pPr marL="342900" indent="-342900" lvl="0">
              <a:buAutoNum type="arabicPeriod"/>
            </a:pPr>
            <a:r>
              <a:rPr sz="2000"/>
              <a:t>Number three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3840480"/>
            <a:ext cx="2377440" cy="1280160"/>
          </a:xfrm>
          <a:prstGeom prst="roundRect">
            <a:avLst/>
          </a:prstGeom>
          <a:gradFill rotWithShape="1">
            <a:gsLst>
              <a:gs pos="0">
                <a:srgbClr val="FF8040"/>
              </a:gs>
              <a:gs pos="100000">
                <a:srgbClr val="4040C0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/>
              <a:t>Gradient</a:t>
            </a:r>
          </a:p>
        </p:txBody>
      </p:sp>
      <p:sp>
        <p:nvSpPr>
          <p:cNvPr id="5" name="Rectangle 4"/>
          <p:cNvSpPr/>
          <p:nvPr/>
        </p:nvSpPr>
        <p:spPr>
          <a:xfrm rot="900000">
            <a:off x="9326880" y="4023360"/>
            <a:ext cx="2194560" cy="914400"/>
          </a:xfrm>
          <a:prstGeom prst="rect">
            <a:avLst/>
          </a:prstGeom>
          <a:solidFill>
            <a:srgbClr val="90C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/>
              <a:t>Rotated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0" y="5669280"/>
            <a:ext cx="3657600" cy="640080"/>
          </a:xfrm>
          <a:prstGeom prst="line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Autofit body that overflows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5486400" cy="2743200"/>
          </a:xfrm>
        </p:spPr>
        <p:txBody>
          <a:bodyPr>
            <a:normAutofit/>
          </a:bodyPr>
          <a:lstStyle/>
          <a:p>
            <a:r>
              <a:t>Lots of text in a small body placeholder. Lots of text in a small body placeholder. Lots of text in a small body placeholder. Lots of text in a small body placeholder. Lots of text in a small body placeholder. Lots of text in a small body placeholder. Lots of text in a small body placeholder. Lots of text in a small body placeholder. Lots of text in a small body placeholder. Lots of text in a small body placeholder. Lots of text in a small body placeholder. Lots of text in a small body placeholder.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463040"/>
            <a:ext cx="4572000" cy="2743200"/>
          </a:xfrm>
          <a:prstGeom prst="rect">
            <a:avLst/>
          </a:prstGeom>
          <a:solidFill>
            <a:srgbClr val="EEEEEE"/>
          </a:solidFill>
        </p:spPr>
        <p:txBody>
          <a:bodyPr wrap="square" anchor="b">
            <a:spAutoFit/>
          </a:bodyPr>
          <a:lstStyle/>
          <a:p>
            <a:r>
              <a:rPr sz="2800"/>
              <a:t>Bottom anchored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572000"/>
            <a:ext cx="4572000" cy="13716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2800"/>
              <a:t>Middle anchored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0"/>
            <a:ext cx="914400" cy="2194560"/>
          </a:xfrm>
          <a:prstGeom prst="rect">
            <a:avLst/>
          </a:prstGeom>
          <a:noFill/>
        </p:spPr>
        <p:txBody>
          <a:bodyPr wrap="none" vert="vert270">
            <a:spAutoFit/>
          </a:bodyPr>
          <a:lstStyle/>
          <a:p>
            <a:r>
              <a:rPr sz="2400"/>
              <a:t>Vertical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